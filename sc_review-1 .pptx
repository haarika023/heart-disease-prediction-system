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431800" indent="-406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431800" indent="762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431800" indent="558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431800" indent="1041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431800" indent="1498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Google Shape;36;p6"/>
          <p:cNvSpPr txBox="1"/>
          <p:nvPr>
            <p:ph type="body" sz="half" idx="2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  <a:buSzPts val="2800"/>
              <a:defRPr sz="2800"/>
            </a:pP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b="1" sz="2400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b="1" sz="2400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b="1" sz="2400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Google Shape;43;p7"/>
          <p:cNvSpPr txBox="1"/>
          <p:nvPr>
            <p:ph type="body" sz="half" idx="2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</a:p>
        </p:txBody>
      </p:sp>
      <p:sp>
        <p:nvSpPr>
          <p:cNvPr id="58" name="Google Shape;44;p7"/>
          <p:cNvSpPr txBox="1"/>
          <p:nvPr>
            <p:ph type="body" sz="quarter" idx="2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pPr>
          </a:p>
        </p:txBody>
      </p:sp>
      <p:sp>
        <p:nvSpPr>
          <p:cNvPr id="59" name="Google Shape;45;p7"/>
          <p:cNvSpPr txBox="1"/>
          <p:nvPr>
            <p:ph type="body" sz="half" idx="23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57;p9"/>
          <p:cNvSpPr txBox="1"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63;p10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318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2457" marR="0" indent="-464457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98600" marR="0" indent="-5080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421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93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565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137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709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81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cs.google.com/spreadsheets/d/1QNteHBvuAj4X7gBRYLyFBbC62lwsB3kw/edit?usp=sharing&amp;ouid=104719762673117610845&amp;rtpof=true&amp;sd=true" TargetMode="Externa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84;p13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8" name="Google Shape;85;p13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17" name="1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19" name="Google Shape;86;p13"/>
          <p:cNvSpPr txBox="1"/>
          <p:nvPr/>
        </p:nvSpPr>
        <p:spPr>
          <a:xfrm>
            <a:off x="893200" y="2263700"/>
            <a:ext cx="7223751" cy="1832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lnSpc>
                <a:spcPct val="115000"/>
              </a:lnSpc>
              <a:defRPr b="1" sz="3600">
                <a:solidFill>
                  <a:srgbClr val="101C48"/>
                </a:solidFill>
              </a:defRPr>
            </a:lvl1pPr>
          </a:lstStyle>
          <a:p>
            <a:pPr/>
            <a:r>
              <a:t>Hybrid Fuzzy–ANN Based Heart Disease Prediction System</a:t>
            </a:r>
          </a:p>
        </p:txBody>
      </p:sp>
      <p:sp>
        <p:nvSpPr>
          <p:cNvPr id="120" name="Google Shape;87;p13"/>
          <p:cNvSpPr txBox="1"/>
          <p:nvPr/>
        </p:nvSpPr>
        <p:spPr>
          <a:xfrm>
            <a:off x="937825" y="4382425"/>
            <a:ext cx="7680951" cy="186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000">
                <a:latin typeface="Calibri"/>
                <a:ea typeface="Calibri"/>
                <a:cs typeface="Calibri"/>
                <a:sym typeface="Calibri"/>
              </a:defRPr>
            </a:pPr>
            <a:r>
              <a:t> Faculty:</a:t>
            </a:r>
            <a:r>
              <a:rPr b="0"/>
              <a:t> Dr. Allapati Rajya Lakshmi</a:t>
            </a:r>
          </a:p>
          <a:p>
            <a:pPr/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</a:t>
            </a:r>
            <a:r>
              <a:rPr b="1"/>
              <a:t>Team Members:</a:t>
            </a:r>
            <a:endParaRPr b="1"/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Haarika Potnuru - 23BCE20050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Venumbaka Ashmitha - 23BCE20034</a:t>
            </a:r>
          </a:p>
        </p:txBody>
      </p:sp>
      <p:pic>
        <p:nvPicPr>
          <p:cNvPr id="121" name="Google Shape;88;p13" descr="Google Shape;88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05175" y="545100"/>
            <a:ext cx="4904700" cy="15183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93;p14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6" name="Google Shape;94;p14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124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25" name="2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27" name="Google Shape;95;p14"/>
          <p:cNvSpPr txBox="1"/>
          <p:nvPr/>
        </p:nvSpPr>
        <p:spPr>
          <a:xfrm>
            <a:off x="960124" y="1371600"/>
            <a:ext cx="7223752" cy="65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128" name="Google Shape;96;p14"/>
          <p:cNvSpPr txBox="1"/>
          <p:nvPr/>
        </p:nvSpPr>
        <p:spPr>
          <a:xfrm>
            <a:off x="960124" y="2286000"/>
            <a:ext cx="7680952" cy="2778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/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Introduction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Problem Statement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Objectives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System Architecture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Methodology (ANN + Fuzzy Logic)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Results &amp; Performance Analysis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Conclusion &amp; Future Scope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01;p15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33" name="Google Shape;102;p15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32" name="3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34" name="Google Shape;103;p15"/>
          <p:cNvSpPr txBox="1"/>
          <p:nvPr/>
        </p:nvSpPr>
        <p:spPr>
          <a:xfrm>
            <a:off x="960124" y="1371600"/>
            <a:ext cx="7223752" cy="65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35" name="Google Shape;104;p15"/>
          <p:cNvSpPr txBox="1"/>
          <p:nvPr/>
        </p:nvSpPr>
        <p:spPr>
          <a:xfrm>
            <a:off x="960124" y="2286000"/>
            <a:ext cx="7680952" cy="186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/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Heart disease is a leading cause of global mortality.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Early prediction reduces complications and improves survival.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Medical data involves uncertainty and complex patterns.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Hybrid soft computing enhances accuracy and interpretability.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09;p16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0" name="Google Shape;110;p16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138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39" name="4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141" name="Google Shape;111;p16"/>
          <p:cNvSpPr txBox="1"/>
          <p:nvPr/>
        </p:nvSpPr>
        <p:spPr>
          <a:xfrm>
            <a:off x="960124" y="1371600"/>
            <a:ext cx="7223752" cy="65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42" name="Google Shape;112;p16"/>
          <p:cNvSpPr txBox="1"/>
          <p:nvPr/>
        </p:nvSpPr>
        <p:spPr>
          <a:xfrm>
            <a:off x="960124" y="2286000"/>
            <a:ext cx="7680952" cy="186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/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Traditional models may not handle uncertainty effectively.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Medical parameters interact in complex nonlinear ways.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Single-model predictions may reduce reliability.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Need a hybrid intelligent prediction system.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17;p17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7" name="Google Shape;118;p17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46" name="5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148" name="Google Shape;119;p17"/>
          <p:cNvSpPr txBox="1"/>
          <p:nvPr/>
        </p:nvSpPr>
        <p:spPr>
          <a:xfrm>
            <a:off x="960124" y="1371600"/>
            <a:ext cx="7223752" cy="65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OBJECTIVE</a:t>
            </a:r>
          </a:p>
        </p:txBody>
      </p:sp>
      <p:sp>
        <p:nvSpPr>
          <p:cNvPr id="149" name="Google Shape;120;p17"/>
          <p:cNvSpPr txBox="1"/>
          <p:nvPr/>
        </p:nvSpPr>
        <p:spPr>
          <a:xfrm>
            <a:off x="960124" y="2286000"/>
            <a:ext cx="7680952" cy="186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/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Develop ANN model for disease prediction.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Design Fuzzy Inference System for risk reasoning.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Compare performance metrics.</a:t>
            </a:r>
          </a:p>
          <a:p>
            <a:pPr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Improve reliability using hybrid approach.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25;p18"/>
          <p:cNvSpPr/>
          <p:nvPr/>
        </p:nvSpPr>
        <p:spPr>
          <a:xfrm>
            <a:off x="0" y="-1"/>
            <a:ext cx="9144000" cy="101702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54" name="Google Shape;126;p18"/>
          <p:cNvGrpSpPr/>
          <p:nvPr/>
        </p:nvGrpSpPr>
        <p:grpSpPr>
          <a:xfrm>
            <a:off x="8046719" y="0"/>
            <a:ext cx="1097401" cy="1097400"/>
            <a:chOff x="0" y="0"/>
            <a:chExt cx="1097399" cy="1097399"/>
          </a:xfrm>
        </p:grpSpPr>
        <p:sp>
          <p:nvSpPr>
            <p:cNvPr id="152" name="Rounded Rectangle"/>
            <p:cNvSpPr/>
            <p:nvPr/>
          </p:nvSpPr>
          <p:spPr>
            <a:xfrm>
              <a:off x="0" y="0"/>
              <a:ext cx="1097400" cy="1097400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53" name="6"/>
            <p:cNvSpPr txBox="1"/>
            <p:nvPr/>
          </p:nvSpPr>
          <p:spPr>
            <a:xfrm>
              <a:off x="99296" y="247908"/>
              <a:ext cx="898808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155" name="Google Shape;127;p18"/>
          <p:cNvSpPr txBox="1"/>
          <p:nvPr/>
        </p:nvSpPr>
        <p:spPr>
          <a:xfrm>
            <a:off x="960124" y="1371599"/>
            <a:ext cx="6231352" cy="974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DATASET INFORMATION</a:t>
            </a:r>
          </a:p>
        </p:txBody>
      </p:sp>
      <p:sp>
        <p:nvSpPr>
          <p:cNvPr id="156" name="Google Shape;128;p18"/>
          <p:cNvSpPr txBox="1"/>
          <p:nvPr/>
        </p:nvSpPr>
        <p:spPr>
          <a:xfrm>
            <a:off x="960124" y="2286000"/>
            <a:ext cx="7680952" cy="4395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Dataset Name: BRFSS 2015 Health Indicators Dataset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Total Records: ~253,680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Total Features: 22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Target Variable: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- HeartDiseaseorAttack (0 = No, 1 = Yes)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Key Features: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- HighBP (Blood Pressure)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- BMI (Body Mass Index)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- Age (Categorical)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- Diabetes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- Smoker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- Physical Activity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Source: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/>
            </a:pPr>
            <a:r>
              <a:rPr sz="1400">
                <a:latin typeface="Calibri"/>
                <a:ea typeface="Calibri"/>
                <a:cs typeface="Calibri"/>
                <a:sym typeface="Calibri"/>
              </a:rPr>
              <a:t>- Centers for Disease Control and Prevention (CDC)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33;p19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1" name="Google Shape;134;p19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159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60" name="7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162" name="Google Shape;135;p19"/>
          <p:cNvSpPr txBox="1"/>
          <p:nvPr/>
        </p:nvSpPr>
        <p:spPr>
          <a:xfrm>
            <a:off x="960124" y="1371600"/>
            <a:ext cx="7223752" cy="65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63" name="Google Shape;136;p19"/>
          <p:cNvSpPr txBox="1"/>
          <p:nvPr/>
        </p:nvSpPr>
        <p:spPr>
          <a:xfrm>
            <a:off x="960124" y="2286000"/>
            <a:ext cx="7680952" cy="232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/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Input Medical Parameters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ANN Model – Pattern Learning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Fuzzy Inference System – Risk Interpretation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Final Risk Prediction Output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41;p20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8" name="Google Shape;142;p20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166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67" name="8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169" name="Google Shape;143;p20"/>
          <p:cNvSpPr txBox="1"/>
          <p:nvPr/>
        </p:nvSpPr>
        <p:spPr>
          <a:xfrm>
            <a:off x="960124" y="1193175"/>
            <a:ext cx="7223752" cy="133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METHODOLOGY - ARTIFICIAL NEURAL NETWORK</a:t>
            </a:r>
          </a:p>
        </p:txBody>
      </p:sp>
      <p:sp>
        <p:nvSpPr>
          <p:cNvPr id="170" name="Google Shape;144;p20"/>
          <p:cNvSpPr txBox="1"/>
          <p:nvPr/>
        </p:nvSpPr>
        <p:spPr>
          <a:xfrm>
            <a:off x="960124" y="2735975"/>
            <a:ext cx="7680952" cy="232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/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Input Layer → Hidden Layers → Output Layer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Backpropagation for weight adjustment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Activation Functions: ReLU / Sigmoid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Evaluation: Accuracy, Precision, Recall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49;p21"/>
          <p:cNvSpPr/>
          <p:nvPr/>
        </p:nvSpPr>
        <p:spPr>
          <a:xfrm>
            <a:off x="0" y="-1"/>
            <a:ext cx="9144000" cy="101702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75" name="Google Shape;150;p21"/>
          <p:cNvGrpSpPr/>
          <p:nvPr/>
        </p:nvGrpSpPr>
        <p:grpSpPr>
          <a:xfrm>
            <a:off x="8046719" y="0"/>
            <a:ext cx="1097401" cy="1097400"/>
            <a:chOff x="0" y="0"/>
            <a:chExt cx="1097399" cy="1097399"/>
          </a:xfrm>
        </p:grpSpPr>
        <p:sp>
          <p:nvSpPr>
            <p:cNvPr id="173" name="Rounded Rectangle"/>
            <p:cNvSpPr/>
            <p:nvPr/>
          </p:nvSpPr>
          <p:spPr>
            <a:xfrm>
              <a:off x="0" y="0"/>
              <a:ext cx="1097400" cy="1097400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74" name="9"/>
            <p:cNvSpPr txBox="1"/>
            <p:nvPr/>
          </p:nvSpPr>
          <p:spPr>
            <a:xfrm>
              <a:off x="99296" y="247908"/>
              <a:ext cx="898808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76" name="Google Shape;151;p21"/>
          <p:cNvSpPr txBox="1"/>
          <p:nvPr/>
        </p:nvSpPr>
        <p:spPr>
          <a:xfrm>
            <a:off x="960124" y="1237775"/>
            <a:ext cx="7223752" cy="133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METHODOLOGY - FUZZY LOGIC</a:t>
            </a:r>
          </a:p>
        </p:txBody>
      </p:sp>
      <p:sp>
        <p:nvSpPr>
          <p:cNvPr id="177" name="Google Shape;152;p21"/>
          <p:cNvSpPr txBox="1"/>
          <p:nvPr/>
        </p:nvSpPr>
        <p:spPr>
          <a:xfrm>
            <a:off x="960124" y="2754350"/>
            <a:ext cx="7680952" cy="1866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endParaRPr sz="2000">
              <a:solidFill>
                <a:srgbClr val="262626"/>
              </a:solidFill>
            </a:endParaRPr>
          </a:p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Define membership functions (Low / Medium / High)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IF–THEN rule base construction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Mamdani inference mechanism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Centroid method for defuzzification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57;p22"/>
          <p:cNvSpPr/>
          <p:nvPr/>
        </p:nvSpPr>
        <p:spPr>
          <a:xfrm>
            <a:off x="0" y="-1"/>
            <a:ext cx="9144000" cy="101702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82" name="Google Shape;158;p22"/>
          <p:cNvGrpSpPr/>
          <p:nvPr/>
        </p:nvGrpSpPr>
        <p:grpSpPr>
          <a:xfrm>
            <a:off x="8046719" y="0"/>
            <a:ext cx="1097401" cy="1097400"/>
            <a:chOff x="0" y="0"/>
            <a:chExt cx="1097399" cy="1097399"/>
          </a:xfrm>
        </p:grpSpPr>
        <p:sp>
          <p:nvSpPr>
            <p:cNvPr id="180" name="Rounded Rectangle"/>
            <p:cNvSpPr/>
            <p:nvPr/>
          </p:nvSpPr>
          <p:spPr>
            <a:xfrm>
              <a:off x="0" y="0"/>
              <a:ext cx="1097400" cy="1097400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81" name="10"/>
            <p:cNvSpPr txBox="1"/>
            <p:nvPr/>
          </p:nvSpPr>
          <p:spPr>
            <a:xfrm>
              <a:off x="99296" y="247908"/>
              <a:ext cx="898808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183" name="Google Shape;159;p22"/>
          <p:cNvSpPr txBox="1"/>
          <p:nvPr/>
        </p:nvSpPr>
        <p:spPr>
          <a:xfrm>
            <a:off x="960124" y="1338149"/>
            <a:ext cx="7223752" cy="653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HYBRID APPROACH</a:t>
            </a:r>
          </a:p>
        </p:txBody>
      </p:sp>
      <p:sp>
        <p:nvSpPr>
          <p:cNvPr id="184" name="Google Shape;160;p22"/>
          <p:cNvSpPr txBox="1"/>
          <p:nvPr/>
        </p:nvSpPr>
        <p:spPr>
          <a:xfrm>
            <a:off x="960124" y="2062975"/>
            <a:ext cx="7680952" cy="1866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endParaRPr sz="2000">
              <a:solidFill>
                <a:srgbClr val="262626"/>
              </a:solidFill>
            </a:endParaRPr>
          </a:p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ANN performs data-driven prediction.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Fuzzy logic explains uncertainty in medical data.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Hybrid model improves robustness.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Combines learning capability with reasoning.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65;p23"/>
          <p:cNvSpPr/>
          <p:nvPr/>
        </p:nvSpPr>
        <p:spPr>
          <a:xfrm>
            <a:off x="0" y="-1"/>
            <a:ext cx="9144000" cy="101702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89" name="Google Shape;166;p23"/>
          <p:cNvGrpSpPr/>
          <p:nvPr/>
        </p:nvGrpSpPr>
        <p:grpSpPr>
          <a:xfrm>
            <a:off x="8046719" y="0"/>
            <a:ext cx="1097401" cy="1097400"/>
            <a:chOff x="0" y="0"/>
            <a:chExt cx="1097399" cy="1097399"/>
          </a:xfrm>
        </p:grpSpPr>
        <p:sp>
          <p:nvSpPr>
            <p:cNvPr id="187" name="Rounded Rectangle"/>
            <p:cNvSpPr/>
            <p:nvPr/>
          </p:nvSpPr>
          <p:spPr>
            <a:xfrm>
              <a:off x="0" y="0"/>
              <a:ext cx="1097400" cy="1097400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88" name="11"/>
            <p:cNvSpPr txBox="1"/>
            <p:nvPr/>
          </p:nvSpPr>
          <p:spPr>
            <a:xfrm>
              <a:off x="99296" y="247908"/>
              <a:ext cx="898808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190" name="Google Shape;167;p23"/>
          <p:cNvSpPr txBox="1"/>
          <p:nvPr/>
        </p:nvSpPr>
        <p:spPr>
          <a:xfrm>
            <a:off x="960124" y="1226625"/>
            <a:ext cx="7223752" cy="133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RESULTS &amp; PERFORMANCE ANALYSIS</a:t>
            </a:r>
          </a:p>
        </p:txBody>
      </p:sp>
      <p:sp>
        <p:nvSpPr>
          <p:cNvPr id="191" name="Google Shape;168;p23"/>
          <p:cNvSpPr txBox="1"/>
          <p:nvPr/>
        </p:nvSpPr>
        <p:spPr>
          <a:xfrm>
            <a:off x="960124" y="1973775"/>
            <a:ext cx="7680952" cy="2353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endParaRPr sz="2000">
              <a:solidFill>
                <a:srgbClr val="262626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2000">
              <a:solidFill>
                <a:srgbClr val="262626"/>
              </a:solidFill>
            </a:endParaRPr>
          </a:p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ANN Accuracy: ~85% (sample result)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Confusion Matrix Evaluation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Fuzzy Risk Interpretation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Improved confidence with hybrid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73;p24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96" name="Google Shape;174;p24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194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195" name="12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12</a:t>
              </a:r>
            </a:p>
          </p:txBody>
        </p:sp>
      </p:grpSp>
      <p:sp>
        <p:nvSpPr>
          <p:cNvPr id="197" name="Google Shape;175;p24"/>
          <p:cNvSpPr txBox="1"/>
          <p:nvPr/>
        </p:nvSpPr>
        <p:spPr>
          <a:xfrm>
            <a:off x="960124" y="1371600"/>
            <a:ext cx="7223752" cy="65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98" name="Google Shape;176;p24"/>
          <p:cNvSpPr txBox="1"/>
          <p:nvPr/>
        </p:nvSpPr>
        <p:spPr>
          <a:xfrm>
            <a:off x="960124" y="2654000"/>
            <a:ext cx="7680952" cy="1379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Hybrid soft computing improves heart disease prediction.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ANN captures complex nonlinear patterns.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Fuzzy logic handles uncertainty effectively.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Supports early clinical risk assessment.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181;p25"/>
          <p:cNvSpPr/>
          <p:nvPr/>
        </p:nvSpPr>
        <p:spPr>
          <a:xfrm>
            <a:off x="0" y="-1"/>
            <a:ext cx="9144000" cy="101702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03" name="Google Shape;182;p25"/>
          <p:cNvGrpSpPr/>
          <p:nvPr/>
        </p:nvGrpSpPr>
        <p:grpSpPr>
          <a:xfrm>
            <a:off x="8046719" y="0"/>
            <a:ext cx="1097401" cy="1097400"/>
            <a:chOff x="0" y="0"/>
            <a:chExt cx="1097399" cy="1097399"/>
          </a:xfrm>
        </p:grpSpPr>
        <p:sp>
          <p:nvSpPr>
            <p:cNvPr id="201" name="Rounded Rectangle"/>
            <p:cNvSpPr/>
            <p:nvPr/>
          </p:nvSpPr>
          <p:spPr>
            <a:xfrm>
              <a:off x="0" y="0"/>
              <a:ext cx="1097400" cy="1097400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2" name="13"/>
            <p:cNvSpPr txBox="1"/>
            <p:nvPr/>
          </p:nvSpPr>
          <p:spPr>
            <a:xfrm>
              <a:off x="99296" y="247908"/>
              <a:ext cx="898808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13</a:t>
              </a:r>
            </a:p>
          </p:txBody>
        </p:sp>
      </p:grpSp>
      <p:sp>
        <p:nvSpPr>
          <p:cNvPr id="204" name="Google Shape;183;p25"/>
          <p:cNvSpPr txBox="1"/>
          <p:nvPr/>
        </p:nvSpPr>
        <p:spPr>
          <a:xfrm>
            <a:off x="1043775" y="1304625"/>
            <a:ext cx="7223751" cy="65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205" name="Google Shape;184;p25"/>
          <p:cNvSpPr txBox="1"/>
          <p:nvPr/>
        </p:nvSpPr>
        <p:spPr>
          <a:xfrm>
            <a:off x="960124" y="2531324"/>
            <a:ext cx="7680952" cy="1379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457200" indent="-355600">
              <a:lnSpc>
                <a:spcPct val="115000"/>
              </a:lnSpc>
              <a:spcBef>
                <a:spcPts val="1200"/>
              </a:spcBef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Integration with IoT health monitoring systems.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Deployment as web/mobile application.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Real-time hospital decision support tool.</a:t>
            </a:r>
          </a:p>
          <a:p>
            <a:pPr marL="457200" indent="-355600">
              <a:lnSpc>
                <a:spcPct val="115000"/>
              </a:lnSpc>
              <a:buClr>
                <a:srgbClr val="262626"/>
              </a:buClr>
              <a:buSzPts val="2000"/>
              <a:buFont typeface="Arial"/>
              <a:buChar char="●"/>
              <a:defRPr sz="2000">
                <a:solidFill>
                  <a:srgbClr val="262626"/>
                </a:solidFill>
              </a:defRPr>
            </a:pPr>
            <a:r>
              <a:t>Extension to multi-disease prediction.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190;p26"/>
          <p:cNvSpPr txBox="1"/>
          <p:nvPr/>
        </p:nvSpPr>
        <p:spPr>
          <a:xfrm>
            <a:off x="892074" y="814025"/>
            <a:ext cx="6423002" cy="58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RESEARCH PAPERS :</a:t>
            </a:r>
          </a:p>
        </p:txBody>
      </p:sp>
      <p:sp>
        <p:nvSpPr>
          <p:cNvPr id="208" name="Google Shape;191;p26"/>
          <p:cNvSpPr txBox="1"/>
          <p:nvPr/>
        </p:nvSpPr>
        <p:spPr>
          <a:xfrm>
            <a:off x="1092799" y="4276499"/>
            <a:ext cx="6423002" cy="1367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https://drive.google.com/file/d/1s4TyMtuZv60xEaJ3THZsepO51a7zJBFv/view?usp=sharing</a:t>
            </a:r>
          </a:p>
        </p:txBody>
      </p:sp>
      <p:sp>
        <p:nvSpPr>
          <p:cNvPr id="209" name="Google Shape;192;p26"/>
          <p:cNvSpPr txBox="1"/>
          <p:nvPr/>
        </p:nvSpPr>
        <p:spPr>
          <a:xfrm>
            <a:off x="1092799" y="1758774"/>
            <a:ext cx="6423002" cy="1540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3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  <a:sym typeface="Calibri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uFillTx/>
              </a:defRPr>
            </a:pPr>
            <a:r>
              <a:rPr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https://docs.google.com/spreadsheets/d/1QNteHBvuAj4X7gBRYLyFBbC62lwsB3kw/edit?usp=sharing&amp;ouid=104719762673117610845&amp;rtpof=true&amp;sd=true</a:t>
            </a:r>
          </a:p>
        </p:txBody>
      </p:sp>
      <p:sp>
        <p:nvSpPr>
          <p:cNvPr id="210" name="Google Shape;193;p26"/>
          <p:cNvSpPr txBox="1"/>
          <p:nvPr/>
        </p:nvSpPr>
        <p:spPr>
          <a:xfrm>
            <a:off x="1092799" y="3490324"/>
            <a:ext cx="6423002" cy="588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DATASETS :</a:t>
            </a:r>
          </a:p>
        </p:txBody>
      </p:sp>
      <p:sp>
        <p:nvSpPr>
          <p:cNvPr id="211" name="Google Shape;194;p26"/>
          <p:cNvSpPr/>
          <p:nvPr/>
        </p:nvSpPr>
        <p:spPr>
          <a:xfrm>
            <a:off x="0" y="-1"/>
            <a:ext cx="9144000" cy="101702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14" name="Google Shape;195;p26"/>
          <p:cNvGrpSpPr/>
          <p:nvPr/>
        </p:nvGrpSpPr>
        <p:grpSpPr>
          <a:xfrm>
            <a:off x="8046719" y="0"/>
            <a:ext cx="1097401" cy="1097400"/>
            <a:chOff x="0" y="0"/>
            <a:chExt cx="1097399" cy="1097399"/>
          </a:xfrm>
        </p:grpSpPr>
        <p:sp>
          <p:nvSpPr>
            <p:cNvPr id="212" name="Rounded Rectangle"/>
            <p:cNvSpPr/>
            <p:nvPr/>
          </p:nvSpPr>
          <p:spPr>
            <a:xfrm>
              <a:off x="0" y="0"/>
              <a:ext cx="1097400" cy="1097400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13" name="14"/>
            <p:cNvSpPr txBox="1"/>
            <p:nvPr/>
          </p:nvSpPr>
          <p:spPr>
            <a:xfrm>
              <a:off x="99296" y="247908"/>
              <a:ext cx="898808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00;p27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8CAA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4901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219" name="Google Shape;201;p27"/>
          <p:cNvGrpSpPr/>
          <p:nvPr/>
        </p:nvGrpSpPr>
        <p:grpSpPr>
          <a:xfrm>
            <a:off x="8046719" y="0"/>
            <a:ext cx="1097281" cy="1097281"/>
            <a:chOff x="0" y="0"/>
            <a:chExt cx="1097280" cy="1097280"/>
          </a:xfrm>
        </p:grpSpPr>
        <p:sp>
          <p:nvSpPr>
            <p:cNvPr id="217" name="Rounded Rectangle"/>
            <p:cNvSpPr/>
            <p:nvPr/>
          </p:nvSpPr>
          <p:spPr>
            <a:xfrm>
              <a:off x="0" y="0"/>
              <a:ext cx="1097281" cy="1097281"/>
            </a:xfrm>
            <a:prstGeom prst="roundRect">
              <a:avLst>
                <a:gd name="adj" fmla="val 16667"/>
              </a:avLst>
            </a:prstGeom>
            <a:solidFill>
              <a:srgbClr val="8CAAB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01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18" name="15"/>
            <p:cNvSpPr txBox="1"/>
            <p:nvPr/>
          </p:nvSpPr>
          <p:spPr>
            <a:xfrm>
              <a:off x="99289" y="247848"/>
              <a:ext cx="898702" cy="601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b="1" sz="40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15</a:t>
              </a:r>
            </a:p>
          </p:txBody>
        </p:sp>
      </p:grpSp>
      <p:sp>
        <p:nvSpPr>
          <p:cNvPr id="220" name="Google Shape;202;p27"/>
          <p:cNvSpPr txBox="1"/>
          <p:nvPr/>
        </p:nvSpPr>
        <p:spPr>
          <a:xfrm>
            <a:off x="960124" y="2877024"/>
            <a:ext cx="7223752" cy="738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5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